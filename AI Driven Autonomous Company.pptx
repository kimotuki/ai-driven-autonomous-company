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933652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933652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9336528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9336528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09336528e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09336528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9336528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09336528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09336528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09336528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09336528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09336528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09336528e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b09336528e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09336528e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09336528e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09336528e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09336528e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09336528e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b09336528e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 Driven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Autonomous Company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r>
              <a:rPr lang="ja"/>
              <a:t>駆動自律型企業に向けて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背景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r>
              <a:rPr lang="ja"/>
              <a:t>の技術的進化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ホワイトワーカーのタスクの変化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モチベーション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企業の事業活動のみならず、企業の形態そのものを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AIを前提にしてゼロベースで見直す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「既存の業務をAIで自動化する」ではなく、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「AI時代だからこそ実現できる企業の形」をデザインする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基本アーキテクチャ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コアはAI Agent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学習期：人間との伴走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自律期：人間の承認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飛躍期：自己学習による事業活動の最大化と最適化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195150" y="103525"/>
            <a:ext cx="8520600" cy="15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柔軟に問題を対応できるように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AIが人間の行動に指示だすためのAPI(MCP)を作成する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（人間は指示通り動かないので状態変化、例外処理が必須）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2316400" y="2260925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647125" y="3875550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2306763" y="4017350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3728000" y="3820075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cxnSp>
        <p:nvCxnSpPr>
          <p:cNvPr id="83" name="Google Shape;83;p17"/>
          <p:cNvCxnSpPr/>
          <p:nvPr/>
        </p:nvCxnSpPr>
        <p:spPr>
          <a:xfrm>
            <a:off x="3572750" y="2721850"/>
            <a:ext cx="1234200" cy="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7"/>
          <p:cNvCxnSpPr/>
          <p:nvPr/>
        </p:nvCxnSpPr>
        <p:spPr>
          <a:xfrm rot="10800000">
            <a:off x="3572650" y="2843788"/>
            <a:ext cx="1264500" cy="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7"/>
          <p:cNvSpPr/>
          <p:nvPr/>
        </p:nvSpPr>
        <p:spPr>
          <a:xfrm>
            <a:off x="4823800" y="2083125"/>
            <a:ext cx="948300" cy="76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3617850" y="22874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可観測性</a:t>
            </a:r>
            <a:endParaRPr sz="700"/>
          </a:p>
        </p:txBody>
      </p:sp>
      <p:sp>
        <p:nvSpPr>
          <p:cNvPr id="87" name="Google Shape;87;p17"/>
          <p:cNvSpPr/>
          <p:nvPr/>
        </p:nvSpPr>
        <p:spPr>
          <a:xfrm>
            <a:off x="4909300" y="2699400"/>
            <a:ext cx="1137600" cy="69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チェック用AI</a:t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224550" y="2298625"/>
            <a:ext cx="1054200" cy="66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リアルタイム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データ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5031125" y="45595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インプット</a:t>
            </a:r>
            <a:endParaRPr sz="700"/>
          </a:p>
        </p:txBody>
      </p:sp>
      <p:sp>
        <p:nvSpPr>
          <p:cNvPr id="90" name="Google Shape;90;p17"/>
          <p:cNvSpPr/>
          <p:nvPr/>
        </p:nvSpPr>
        <p:spPr>
          <a:xfrm>
            <a:off x="4132300" y="3475900"/>
            <a:ext cx="547800" cy="44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2919075" y="3844725"/>
            <a:ext cx="547800" cy="44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1497850" y="3790500"/>
            <a:ext cx="547800" cy="44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cxnSp>
        <p:nvCxnSpPr>
          <p:cNvPr id="93" name="Google Shape;93;p17"/>
          <p:cNvCxnSpPr>
            <a:endCxn id="90" idx="1"/>
          </p:cNvCxnSpPr>
          <p:nvPr/>
        </p:nvCxnSpPr>
        <p:spPr>
          <a:xfrm>
            <a:off x="3466723" y="2986683"/>
            <a:ext cx="745800" cy="5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7"/>
          <p:cNvCxnSpPr>
            <a:endCxn id="91" idx="0"/>
          </p:cNvCxnSpPr>
          <p:nvPr/>
        </p:nvCxnSpPr>
        <p:spPr>
          <a:xfrm>
            <a:off x="3048375" y="3203925"/>
            <a:ext cx="144600" cy="6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7"/>
          <p:cNvCxnSpPr>
            <a:endCxn id="92" idx="7"/>
          </p:cNvCxnSpPr>
          <p:nvPr/>
        </p:nvCxnSpPr>
        <p:spPr>
          <a:xfrm flipH="1">
            <a:off x="1965427" y="3129683"/>
            <a:ext cx="653700" cy="72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7"/>
          <p:cNvSpPr/>
          <p:nvPr/>
        </p:nvSpPr>
        <p:spPr>
          <a:xfrm>
            <a:off x="2187850" y="2158225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2045650" y="2024500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cxnSp>
        <p:nvCxnSpPr>
          <p:cNvPr id="98" name="Google Shape;98;p17"/>
          <p:cNvCxnSpPr>
            <a:stCxn id="80" idx="0"/>
          </p:cNvCxnSpPr>
          <p:nvPr/>
        </p:nvCxnSpPr>
        <p:spPr>
          <a:xfrm rot="10800000">
            <a:off x="1034875" y="3002250"/>
            <a:ext cx="192300" cy="8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>
            <a:stCxn id="91" idx="2"/>
          </p:cNvCxnSpPr>
          <p:nvPr/>
        </p:nvCxnSpPr>
        <p:spPr>
          <a:xfrm rot="10800000">
            <a:off x="1114575" y="3034425"/>
            <a:ext cx="1804500" cy="103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7"/>
          <p:cNvCxnSpPr>
            <a:stCxn id="82" idx="1"/>
          </p:cNvCxnSpPr>
          <p:nvPr/>
        </p:nvCxnSpPr>
        <p:spPr>
          <a:xfrm rot="10800000">
            <a:off x="1299893" y="2954960"/>
            <a:ext cx="2598000" cy="100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" name="Google Shape;101;p17"/>
          <p:cNvSpPr/>
          <p:nvPr/>
        </p:nvSpPr>
        <p:spPr>
          <a:xfrm>
            <a:off x="1167550" y="1620025"/>
            <a:ext cx="900600" cy="50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世界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モデル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3826150" y="30344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a2a</a:t>
            </a:r>
            <a:endParaRPr sz="700"/>
          </a:p>
        </p:txBody>
      </p:sp>
      <p:sp>
        <p:nvSpPr>
          <p:cNvPr id="103" name="Google Shape;103;p17"/>
          <p:cNvSpPr txBox="1"/>
          <p:nvPr/>
        </p:nvSpPr>
        <p:spPr>
          <a:xfrm>
            <a:off x="3048375" y="3347263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a2a</a:t>
            </a:r>
            <a:endParaRPr sz="700"/>
          </a:p>
        </p:txBody>
      </p:sp>
      <p:sp>
        <p:nvSpPr>
          <p:cNvPr id="104" name="Google Shape;104;p17"/>
          <p:cNvSpPr txBox="1"/>
          <p:nvPr/>
        </p:nvSpPr>
        <p:spPr>
          <a:xfrm>
            <a:off x="1807225" y="3201938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a2a</a:t>
            </a:r>
            <a:endParaRPr sz="700"/>
          </a:p>
        </p:txBody>
      </p:sp>
      <p:sp>
        <p:nvSpPr>
          <p:cNvPr id="105" name="Google Shape;105;p17"/>
          <p:cNvSpPr txBox="1"/>
          <p:nvPr/>
        </p:nvSpPr>
        <p:spPr>
          <a:xfrm>
            <a:off x="7620525" y="32039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群知能</a:t>
            </a:r>
            <a:endParaRPr sz="700"/>
          </a:p>
        </p:txBody>
      </p:sp>
      <p:sp>
        <p:nvSpPr>
          <p:cNvPr id="106" name="Google Shape;106;p17"/>
          <p:cNvSpPr txBox="1"/>
          <p:nvPr/>
        </p:nvSpPr>
        <p:spPr>
          <a:xfrm>
            <a:off x="4806950" y="406367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報酬の最大化</a:t>
            </a:r>
            <a:endParaRPr sz="700"/>
          </a:p>
        </p:txBody>
      </p:sp>
      <p:sp>
        <p:nvSpPr>
          <p:cNvPr id="107" name="Google Shape;107;p17"/>
          <p:cNvSpPr txBox="1"/>
          <p:nvPr/>
        </p:nvSpPr>
        <p:spPr>
          <a:xfrm>
            <a:off x="3052425" y="47956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報酬の最大化</a:t>
            </a:r>
            <a:endParaRPr sz="700"/>
          </a:p>
        </p:txBody>
      </p:sp>
      <p:sp>
        <p:nvSpPr>
          <p:cNvPr id="108" name="Google Shape;108;p17"/>
          <p:cNvSpPr txBox="1"/>
          <p:nvPr/>
        </p:nvSpPr>
        <p:spPr>
          <a:xfrm>
            <a:off x="1073725" y="475677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報酬の最大化</a:t>
            </a:r>
            <a:endParaRPr sz="700"/>
          </a:p>
        </p:txBody>
      </p:sp>
      <p:sp>
        <p:nvSpPr>
          <p:cNvPr id="109" name="Google Shape;109;p17"/>
          <p:cNvSpPr txBox="1"/>
          <p:nvPr/>
        </p:nvSpPr>
        <p:spPr>
          <a:xfrm>
            <a:off x="1832438" y="12906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戦略の作成</a:t>
            </a:r>
            <a:endParaRPr sz="700"/>
          </a:p>
        </p:txBody>
      </p:sp>
      <p:sp>
        <p:nvSpPr>
          <p:cNvPr id="110" name="Google Shape;110;p17"/>
          <p:cNvSpPr txBox="1"/>
          <p:nvPr/>
        </p:nvSpPr>
        <p:spPr>
          <a:xfrm>
            <a:off x="2233825" y="15082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タスクの作成</a:t>
            </a:r>
            <a:endParaRPr sz="700"/>
          </a:p>
        </p:txBody>
      </p:sp>
      <p:sp>
        <p:nvSpPr>
          <p:cNvPr id="111" name="Google Shape;111;p17"/>
          <p:cNvSpPr txBox="1"/>
          <p:nvPr/>
        </p:nvSpPr>
        <p:spPr>
          <a:xfrm>
            <a:off x="2663200" y="1775775"/>
            <a:ext cx="146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タスクの常時見直し</a:t>
            </a:r>
            <a:endParaRPr sz="700"/>
          </a:p>
        </p:txBody>
      </p:sp>
      <p:sp>
        <p:nvSpPr>
          <p:cNvPr id="112" name="Google Shape;112;p17"/>
          <p:cNvSpPr txBox="1"/>
          <p:nvPr/>
        </p:nvSpPr>
        <p:spPr>
          <a:xfrm>
            <a:off x="6469650" y="1318850"/>
            <a:ext cx="217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AIによる自律分散した企業</a:t>
            </a:r>
            <a:endParaRPr sz="700"/>
          </a:p>
        </p:txBody>
      </p:sp>
      <p:sp>
        <p:nvSpPr>
          <p:cNvPr id="113" name="Google Shape;113;p17"/>
          <p:cNvSpPr txBox="1"/>
          <p:nvPr/>
        </p:nvSpPr>
        <p:spPr>
          <a:xfrm>
            <a:off x="4914500" y="3549050"/>
            <a:ext cx="190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人間にしかできないタスク</a:t>
            </a:r>
            <a:endParaRPr sz="700"/>
          </a:p>
        </p:txBody>
      </p:sp>
      <p:sp>
        <p:nvSpPr>
          <p:cNvPr id="114" name="Google Shape;114;p17"/>
          <p:cNvSpPr txBox="1"/>
          <p:nvPr/>
        </p:nvSpPr>
        <p:spPr>
          <a:xfrm>
            <a:off x="1269675" y="1088425"/>
            <a:ext cx="149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ミッション定義</a:t>
            </a:r>
            <a:endParaRPr sz="700"/>
          </a:p>
        </p:txBody>
      </p:sp>
      <p:sp>
        <p:nvSpPr>
          <p:cNvPr id="115" name="Google Shape;115;p17"/>
          <p:cNvSpPr txBox="1"/>
          <p:nvPr/>
        </p:nvSpPr>
        <p:spPr>
          <a:xfrm>
            <a:off x="4277300" y="118067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戦略の承認</a:t>
            </a:r>
            <a:endParaRPr sz="700"/>
          </a:p>
        </p:txBody>
      </p:sp>
      <p:sp>
        <p:nvSpPr>
          <p:cNvPr id="116" name="Google Shape;116;p17"/>
          <p:cNvSpPr/>
          <p:nvPr/>
        </p:nvSpPr>
        <p:spPr>
          <a:xfrm>
            <a:off x="5101050" y="1114550"/>
            <a:ext cx="948300" cy="76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4393900" y="1481750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タスクの承認</a:t>
            </a:r>
            <a:endParaRPr sz="700"/>
          </a:p>
        </p:txBody>
      </p:sp>
      <p:sp>
        <p:nvSpPr>
          <p:cNvPr id="118" name="Google Shape;118;p17"/>
          <p:cNvSpPr txBox="1"/>
          <p:nvPr/>
        </p:nvSpPr>
        <p:spPr>
          <a:xfrm>
            <a:off x="2688103" y="1264125"/>
            <a:ext cx="146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事業モデルの作成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195150" y="103525"/>
            <a:ext cx="85206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サービス業について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2623675" y="1535125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954400" y="3149750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sp>
        <p:nvSpPr>
          <p:cNvPr id="126" name="Google Shape;126;p18"/>
          <p:cNvSpPr/>
          <p:nvPr/>
        </p:nvSpPr>
        <p:spPr>
          <a:xfrm>
            <a:off x="2614038" y="3291550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4035275" y="3094275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cxnSp>
        <p:nvCxnSpPr>
          <p:cNvPr id="128" name="Google Shape;128;p18"/>
          <p:cNvCxnSpPr/>
          <p:nvPr/>
        </p:nvCxnSpPr>
        <p:spPr>
          <a:xfrm>
            <a:off x="3880025" y="1996050"/>
            <a:ext cx="1234200" cy="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8"/>
          <p:cNvCxnSpPr/>
          <p:nvPr/>
        </p:nvCxnSpPr>
        <p:spPr>
          <a:xfrm rot="10800000">
            <a:off x="3879925" y="2117988"/>
            <a:ext cx="1264500" cy="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p18"/>
          <p:cNvSpPr/>
          <p:nvPr/>
        </p:nvSpPr>
        <p:spPr>
          <a:xfrm>
            <a:off x="5131075" y="1357325"/>
            <a:ext cx="948300" cy="76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3925125" y="15616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可観測性</a:t>
            </a:r>
            <a:endParaRPr sz="700"/>
          </a:p>
        </p:txBody>
      </p:sp>
      <p:sp>
        <p:nvSpPr>
          <p:cNvPr id="132" name="Google Shape;132;p18"/>
          <p:cNvSpPr/>
          <p:nvPr/>
        </p:nvSpPr>
        <p:spPr>
          <a:xfrm>
            <a:off x="5216575" y="1973600"/>
            <a:ext cx="1137600" cy="695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チェック用AI</a:t>
            </a: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531825" y="1572825"/>
            <a:ext cx="1054200" cy="66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リアルタイム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データ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338400" y="38337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インプット</a:t>
            </a:r>
            <a:endParaRPr sz="700"/>
          </a:p>
        </p:txBody>
      </p:sp>
      <p:sp>
        <p:nvSpPr>
          <p:cNvPr id="135" name="Google Shape;135;p18"/>
          <p:cNvSpPr/>
          <p:nvPr/>
        </p:nvSpPr>
        <p:spPr>
          <a:xfrm>
            <a:off x="4439575" y="2750100"/>
            <a:ext cx="547800" cy="44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3226350" y="3118925"/>
            <a:ext cx="547800" cy="44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1805125" y="3064700"/>
            <a:ext cx="547800" cy="44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cxnSp>
        <p:nvCxnSpPr>
          <p:cNvPr id="138" name="Google Shape;138;p18"/>
          <p:cNvCxnSpPr>
            <a:endCxn id="135" idx="1"/>
          </p:cNvCxnSpPr>
          <p:nvPr/>
        </p:nvCxnSpPr>
        <p:spPr>
          <a:xfrm>
            <a:off x="3773998" y="2260883"/>
            <a:ext cx="745800" cy="5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8"/>
          <p:cNvCxnSpPr>
            <a:endCxn id="136" idx="0"/>
          </p:cNvCxnSpPr>
          <p:nvPr/>
        </p:nvCxnSpPr>
        <p:spPr>
          <a:xfrm>
            <a:off x="3355650" y="2478125"/>
            <a:ext cx="144600" cy="6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18"/>
          <p:cNvCxnSpPr>
            <a:endCxn id="137" idx="7"/>
          </p:cNvCxnSpPr>
          <p:nvPr/>
        </p:nvCxnSpPr>
        <p:spPr>
          <a:xfrm flipH="1">
            <a:off x="2272702" y="2403883"/>
            <a:ext cx="653700" cy="72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p18"/>
          <p:cNvSpPr/>
          <p:nvPr/>
        </p:nvSpPr>
        <p:spPr>
          <a:xfrm>
            <a:off x="2495125" y="1432425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2352925" y="1298700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cxnSp>
        <p:nvCxnSpPr>
          <p:cNvPr id="143" name="Google Shape;143;p18"/>
          <p:cNvCxnSpPr>
            <a:stCxn id="125" idx="0"/>
          </p:cNvCxnSpPr>
          <p:nvPr/>
        </p:nvCxnSpPr>
        <p:spPr>
          <a:xfrm rot="10800000">
            <a:off x="1342150" y="2276450"/>
            <a:ext cx="192300" cy="87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8"/>
          <p:cNvCxnSpPr>
            <a:stCxn id="136" idx="2"/>
          </p:cNvCxnSpPr>
          <p:nvPr/>
        </p:nvCxnSpPr>
        <p:spPr>
          <a:xfrm rot="10800000">
            <a:off x="1421850" y="2308625"/>
            <a:ext cx="1804500" cy="103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8"/>
          <p:cNvCxnSpPr>
            <a:stCxn id="127" idx="1"/>
          </p:cNvCxnSpPr>
          <p:nvPr/>
        </p:nvCxnSpPr>
        <p:spPr>
          <a:xfrm rot="10800000">
            <a:off x="1607168" y="2229160"/>
            <a:ext cx="2598000" cy="100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18"/>
          <p:cNvSpPr/>
          <p:nvPr/>
        </p:nvSpPr>
        <p:spPr>
          <a:xfrm>
            <a:off x="1474825" y="894225"/>
            <a:ext cx="900600" cy="50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世界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モデル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4133425" y="23086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a2a</a:t>
            </a:r>
            <a:endParaRPr sz="700"/>
          </a:p>
        </p:txBody>
      </p:sp>
      <p:sp>
        <p:nvSpPr>
          <p:cNvPr id="148" name="Google Shape;148;p18"/>
          <p:cNvSpPr txBox="1"/>
          <p:nvPr/>
        </p:nvSpPr>
        <p:spPr>
          <a:xfrm>
            <a:off x="3355650" y="2621463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a2a</a:t>
            </a:r>
            <a:endParaRPr sz="700"/>
          </a:p>
        </p:txBody>
      </p:sp>
      <p:sp>
        <p:nvSpPr>
          <p:cNvPr id="149" name="Google Shape;149;p18"/>
          <p:cNvSpPr txBox="1"/>
          <p:nvPr/>
        </p:nvSpPr>
        <p:spPr>
          <a:xfrm>
            <a:off x="2114500" y="2476138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a2a</a:t>
            </a:r>
            <a:endParaRPr sz="700"/>
          </a:p>
        </p:txBody>
      </p:sp>
      <p:sp>
        <p:nvSpPr>
          <p:cNvPr id="150" name="Google Shape;150;p18"/>
          <p:cNvSpPr txBox="1"/>
          <p:nvPr/>
        </p:nvSpPr>
        <p:spPr>
          <a:xfrm>
            <a:off x="7620525" y="32039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群知能</a:t>
            </a:r>
            <a:endParaRPr sz="700"/>
          </a:p>
        </p:txBody>
      </p:sp>
      <p:sp>
        <p:nvSpPr>
          <p:cNvPr id="151" name="Google Shape;151;p18"/>
          <p:cNvSpPr txBox="1"/>
          <p:nvPr/>
        </p:nvSpPr>
        <p:spPr>
          <a:xfrm>
            <a:off x="5114225" y="333787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報酬の最大化</a:t>
            </a:r>
            <a:endParaRPr sz="700"/>
          </a:p>
        </p:txBody>
      </p:sp>
      <p:sp>
        <p:nvSpPr>
          <p:cNvPr id="152" name="Google Shape;152;p18"/>
          <p:cNvSpPr txBox="1"/>
          <p:nvPr/>
        </p:nvSpPr>
        <p:spPr>
          <a:xfrm>
            <a:off x="3359700" y="40698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報酬の最大化</a:t>
            </a:r>
            <a:endParaRPr sz="700"/>
          </a:p>
        </p:txBody>
      </p:sp>
      <p:sp>
        <p:nvSpPr>
          <p:cNvPr id="153" name="Google Shape;153;p18"/>
          <p:cNvSpPr txBox="1"/>
          <p:nvPr/>
        </p:nvSpPr>
        <p:spPr>
          <a:xfrm>
            <a:off x="1363725" y="403097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報酬の最大化</a:t>
            </a:r>
            <a:endParaRPr sz="700"/>
          </a:p>
        </p:txBody>
      </p:sp>
      <p:sp>
        <p:nvSpPr>
          <p:cNvPr id="154" name="Google Shape;154;p18"/>
          <p:cNvSpPr txBox="1"/>
          <p:nvPr/>
        </p:nvSpPr>
        <p:spPr>
          <a:xfrm>
            <a:off x="2139713" y="5648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戦略の作成</a:t>
            </a:r>
            <a:endParaRPr sz="700"/>
          </a:p>
        </p:txBody>
      </p:sp>
      <p:sp>
        <p:nvSpPr>
          <p:cNvPr id="155" name="Google Shape;155;p18"/>
          <p:cNvSpPr txBox="1"/>
          <p:nvPr/>
        </p:nvSpPr>
        <p:spPr>
          <a:xfrm>
            <a:off x="2541100" y="78242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タスクの作成</a:t>
            </a:r>
            <a:endParaRPr sz="700"/>
          </a:p>
        </p:txBody>
      </p:sp>
      <p:sp>
        <p:nvSpPr>
          <p:cNvPr id="156" name="Google Shape;156;p18"/>
          <p:cNvSpPr txBox="1"/>
          <p:nvPr/>
        </p:nvSpPr>
        <p:spPr>
          <a:xfrm>
            <a:off x="2970475" y="1049975"/>
            <a:ext cx="146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タスクの常時見直し</a:t>
            </a:r>
            <a:endParaRPr sz="700"/>
          </a:p>
        </p:txBody>
      </p:sp>
      <p:sp>
        <p:nvSpPr>
          <p:cNvPr id="157" name="Google Shape;157;p18"/>
          <p:cNvSpPr txBox="1"/>
          <p:nvPr/>
        </p:nvSpPr>
        <p:spPr>
          <a:xfrm>
            <a:off x="6914650" y="506425"/>
            <a:ext cx="217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AIによる自律分散した企業</a:t>
            </a:r>
            <a:endParaRPr sz="700"/>
          </a:p>
        </p:txBody>
      </p:sp>
      <p:sp>
        <p:nvSpPr>
          <p:cNvPr id="158" name="Google Shape;158;p18"/>
          <p:cNvSpPr txBox="1"/>
          <p:nvPr/>
        </p:nvSpPr>
        <p:spPr>
          <a:xfrm>
            <a:off x="5221775" y="2823250"/>
            <a:ext cx="190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人間にしかできないタスク</a:t>
            </a:r>
            <a:endParaRPr sz="700"/>
          </a:p>
        </p:txBody>
      </p:sp>
      <p:sp>
        <p:nvSpPr>
          <p:cNvPr id="159" name="Google Shape;159;p18"/>
          <p:cNvSpPr txBox="1"/>
          <p:nvPr/>
        </p:nvSpPr>
        <p:spPr>
          <a:xfrm>
            <a:off x="1576950" y="362625"/>
            <a:ext cx="1494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ミッション定義</a:t>
            </a:r>
            <a:endParaRPr sz="700"/>
          </a:p>
        </p:txBody>
      </p:sp>
      <p:sp>
        <p:nvSpPr>
          <p:cNvPr id="160" name="Google Shape;160;p18"/>
          <p:cNvSpPr txBox="1"/>
          <p:nvPr/>
        </p:nvSpPr>
        <p:spPr>
          <a:xfrm>
            <a:off x="4584575" y="454875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戦略の承認</a:t>
            </a:r>
            <a:endParaRPr sz="700"/>
          </a:p>
        </p:txBody>
      </p:sp>
      <p:sp>
        <p:nvSpPr>
          <p:cNvPr id="161" name="Google Shape;161;p18"/>
          <p:cNvSpPr/>
          <p:nvPr/>
        </p:nvSpPr>
        <p:spPr>
          <a:xfrm>
            <a:off x="5408325" y="388750"/>
            <a:ext cx="948300" cy="762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701175" y="755950"/>
            <a:ext cx="116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タスクの承認</a:t>
            </a:r>
            <a:endParaRPr sz="700"/>
          </a:p>
        </p:txBody>
      </p:sp>
      <p:sp>
        <p:nvSpPr>
          <p:cNvPr id="163" name="Google Shape;163;p18"/>
          <p:cNvSpPr txBox="1"/>
          <p:nvPr/>
        </p:nvSpPr>
        <p:spPr>
          <a:xfrm>
            <a:off x="2995378" y="538325"/>
            <a:ext cx="146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100">
                <a:solidFill>
                  <a:schemeClr val="dk2"/>
                </a:solidFill>
              </a:rPr>
              <a:t>事業モデルの作成</a:t>
            </a:r>
            <a:endParaRPr sz="700"/>
          </a:p>
        </p:txBody>
      </p:sp>
      <p:sp>
        <p:nvSpPr>
          <p:cNvPr id="164" name="Google Shape;164;p18"/>
          <p:cNvSpPr/>
          <p:nvPr/>
        </p:nvSpPr>
        <p:spPr>
          <a:xfrm>
            <a:off x="447075" y="4315150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2623675" y="4614325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4248225" y="4456475"/>
            <a:ext cx="1160100" cy="942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人間</a:t>
            </a:r>
            <a:endParaRPr/>
          </a:p>
        </p:txBody>
      </p:sp>
      <p:cxnSp>
        <p:nvCxnSpPr>
          <p:cNvPr id="167" name="Google Shape;167;p18"/>
          <p:cNvCxnSpPr/>
          <p:nvPr/>
        </p:nvCxnSpPr>
        <p:spPr>
          <a:xfrm flipH="1">
            <a:off x="1088400" y="3935050"/>
            <a:ext cx="185100" cy="4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8"/>
          <p:cNvCxnSpPr/>
          <p:nvPr/>
        </p:nvCxnSpPr>
        <p:spPr>
          <a:xfrm flipH="1" rot="10800000">
            <a:off x="1273500" y="4004425"/>
            <a:ext cx="1527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18"/>
          <p:cNvSpPr/>
          <p:nvPr/>
        </p:nvSpPr>
        <p:spPr>
          <a:xfrm>
            <a:off x="1507200" y="4315150"/>
            <a:ext cx="547800" cy="44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3226350" y="4437250"/>
            <a:ext cx="547800" cy="44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4945500" y="4329575"/>
            <a:ext cx="547800" cy="441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AI</a:t>
            </a: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 flipH="1" rot="10800000">
            <a:off x="3095950" y="4083400"/>
            <a:ext cx="137700" cy="65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8"/>
          <p:cNvCxnSpPr/>
          <p:nvPr/>
        </p:nvCxnSpPr>
        <p:spPr>
          <a:xfrm flipH="1">
            <a:off x="2974075" y="4083400"/>
            <a:ext cx="181500" cy="69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18"/>
          <p:cNvCxnSpPr/>
          <p:nvPr/>
        </p:nvCxnSpPr>
        <p:spPr>
          <a:xfrm rot="10800000">
            <a:off x="4764775" y="3903175"/>
            <a:ext cx="84900" cy="63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18"/>
          <p:cNvCxnSpPr/>
          <p:nvPr/>
        </p:nvCxnSpPr>
        <p:spPr>
          <a:xfrm>
            <a:off x="4703975" y="3960325"/>
            <a:ext cx="81900" cy="66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 title="AIマネージド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824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ja"/>
              <a:t>AIに関する</a:t>
            </a:r>
            <a:r>
              <a:rPr lang="ja"/>
              <a:t>認識</a:t>
            </a:r>
            <a:endParaRPr/>
          </a:p>
        </p:txBody>
      </p:sp>
      <p:sp>
        <p:nvSpPr>
          <p:cNvPr id="186" name="Google Shape;18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ja"/>
              <a:t>Not AIはツールにしかすぎない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ja"/>
              <a:t>産業革命以上のインフラ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ja"/>
              <a:t>Not AIは人間よりも進化しない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ja"/>
              <a:t>知性・知能の形は違えど様々な知識で人間を超える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ja"/>
              <a:t>（人間がゴールを動かしている）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ja"/>
              <a:t>※人々が予想するよりも進化が早い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ja"/>
              <a:t>AI Agentが人間をフィードバックループに組み込む能力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ja"/>
              <a:t>AIが人に対してABテストを実施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ja"/>
              <a:t>パーソナリティや趣味嗜好を分析して、世界モデルの改良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rPr lang="ja"/>
              <a:t>自己最適化AI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8181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155775" y="169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提供サービス</a:t>
            </a:r>
            <a:endParaRPr/>
          </a:p>
        </p:txBody>
      </p:sp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265825" y="923175"/>
            <a:ext cx="8729400" cy="4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3273"/>
              <a:buFont typeface="Arial"/>
              <a:buNone/>
            </a:pPr>
            <a:r>
              <a:rPr lang="ja"/>
              <a:t>AI</a:t>
            </a:r>
            <a:r>
              <a:rPr lang="ja"/>
              <a:t>エンジニアリング x 事業コンサル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155775" y="169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提供サービス</a:t>
            </a:r>
            <a:endParaRPr/>
          </a:p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265825" y="923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・開発組織の再構築コンサルティング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・IT業界全体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・ディストラクティブ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・エンジニア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（コミュニティ活動の発展系に）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133950" y="21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ja"/>
              <a:t>なぜ新会社なのか？</a:t>
            </a:r>
            <a:endParaRPr/>
          </a:p>
        </p:txBody>
      </p:sp>
      <p:sp>
        <p:nvSpPr>
          <p:cNvPr id="204" name="Google Shape;204;p23"/>
          <p:cNvSpPr txBox="1"/>
          <p:nvPr>
            <p:ph idx="1" type="body"/>
          </p:nvPr>
        </p:nvSpPr>
        <p:spPr>
          <a:xfrm>
            <a:off x="311700" y="928650"/>
            <a:ext cx="8520600" cy="4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ja"/>
              <a:t>CLの中での制約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ja"/>
              <a:t>　アジャイル vs ポストアジャイル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ja"/>
              <a:t>　Sherpaを前提としない（開発者ゼロへ）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ja"/>
              <a:t>　フルコミットできない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ja"/>
              <a:t>　COSTAへの投資が必要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ja"/>
              <a:t>ゼロベースでのチャレンジ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ja"/>
              <a:t>　全てをAI前提で作り直す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ja"/>
              <a:t>　AIの進化を前提にふりきることが重要</a:t>
            </a:r>
            <a:r>
              <a:rPr lang="ja" sz="1400">
                <a:solidFill>
                  <a:schemeClr val="dk1"/>
                </a:solidFill>
              </a:rPr>
              <a:t>（</a:t>
            </a:r>
            <a:r>
              <a:rPr b="1" lang="ja"/>
              <a:t>投機的リスク）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b="1" lang="ja"/>
              <a:t>　意思決定の集中（意思決定の速さと方針変更の高速化）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rPr b="1" lang="ja"/>
              <a:t>モチベーション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